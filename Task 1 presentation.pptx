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anva Sans Bold Italics" charset="1" panose="020B0803030501040103"/>
      <p:regular r:id="rId11"/>
    </p:embeddedFont>
    <p:embeddedFont>
      <p:font typeface="Glacial Indifference Bold Italics" charset="1" panose="00000800000000000000"/>
      <p:regular r:id="rId12"/>
    </p:embeddedFont>
    <p:embeddedFont>
      <p:font typeface="Canva Sans Bold" charset="1" panose="020B0803030501040103"/>
      <p:regular r:id="rId13"/>
    </p:embeddedFont>
    <p:embeddedFont>
      <p:font typeface="Noto Serif Ethiopic Condensed" charset="1" panose="02020502060505020204"/>
      <p:regular r:id="rId14"/>
    </p:embeddedFont>
    <p:embeddedFont>
      <p:font typeface="Norwester" charset="1" panose="00000506000000000000"/>
      <p:regular r:id="rId15"/>
    </p:embeddedFont>
    <p:embeddedFont>
      <p:font typeface="Alice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549" y="204511"/>
            <a:ext cx="5876811" cy="9388821"/>
          </a:xfrm>
          <a:custGeom>
            <a:avLst/>
            <a:gdLst/>
            <a:ahLst/>
            <a:cxnLst/>
            <a:rect r="r" b="b" t="t" l="l"/>
            <a:pathLst>
              <a:path h="9388821" w="5876811">
                <a:moveTo>
                  <a:pt x="0" y="0"/>
                </a:moveTo>
                <a:lnTo>
                  <a:pt x="5876811" y="0"/>
                </a:lnTo>
                <a:lnTo>
                  <a:pt x="5876811" y="9388821"/>
                </a:lnTo>
                <a:lnTo>
                  <a:pt x="0" y="9388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4" r="0" b="-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279144" y="627393"/>
            <a:ext cx="5612120" cy="8965940"/>
          </a:xfrm>
          <a:custGeom>
            <a:avLst/>
            <a:gdLst/>
            <a:ahLst/>
            <a:cxnLst/>
            <a:rect r="r" b="b" t="t" l="l"/>
            <a:pathLst>
              <a:path h="8965940" w="5612120">
                <a:moveTo>
                  <a:pt x="0" y="0"/>
                </a:moveTo>
                <a:lnTo>
                  <a:pt x="5612121" y="0"/>
                </a:lnTo>
                <a:lnTo>
                  <a:pt x="5612121" y="8965939"/>
                </a:lnTo>
                <a:lnTo>
                  <a:pt x="0" y="8965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" t="0" r="-3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7724" y="407432"/>
            <a:ext cx="3509686" cy="4114800"/>
          </a:xfrm>
          <a:custGeom>
            <a:avLst/>
            <a:gdLst/>
            <a:ahLst/>
            <a:cxnLst/>
            <a:rect r="r" b="b" t="t" l="l"/>
            <a:pathLst>
              <a:path h="4114800" w="3509686">
                <a:moveTo>
                  <a:pt x="0" y="0"/>
                </a:moveTo>
                <a:lnTo>
                  <a:pt x="3509686" y="0"/>
                </a:lnTo>
                <a:lnTo>
                  <a:pt x="35096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" t="0" r="-7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81578" y="5478532"/>
            <a:ext cx="3509686" cy="4114800"/>
          </a:xfrm>
          <a:custGeom>
            <a:avLst/>
            <a:gdLst/>
            <a:ahLst/>
            <a:cxnLst/>
            <a:rect r="r" b="b" t="t" l="l"/>
            <a:pathLst>
              <a:path h="4114800" w="3509686">
                <a:moveTo>
                  <a:pt x="0" y="0"/>
                </a:moveTo>
                <a:lnTo>
                  <a:pt x="3509687" y="0"/>
                </a:lnTo>
                <a:lnTo>
                  <a:pt x="35096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" t="0" r="-71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240799" y="204511"/>
            <a:ext cx="9235183" cy="2762860"/>
            <a:chOff x="0" y="0"/>
            <a:chExt cx="12313577" cy="36838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13539" cy="3683762"/>
            </a:xfrm>
            <a:custGeom>
              <a:avLst/>
              <a:gdLst/>
              <a:ahLst/>
              <a:cxnLst/>
              <a:rect r="r" b="b" t="t" l="l"/>
              <a:pathLst>
                <a:path h="3683762" w="12313539">
                  <a:moveTo>
                    <a:pt x="0" y="0"/>
                  </a:moveTo>
                  <a:lnTo>
                    <a:pt x="12313539" y="0"/>
                  </a:lnTo>
                  <a:lnTo>
                    <a:pt x="12313539" y="3683762"/>
                  </a:lnTo>
                  <a:lnTo>
                    <a:pt x="0" y="3683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6" r="0" b="-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815933" y="6830473"/>
            <a:ext cx="9235183" cy="2762860"/>
            <a:chOff x="0" y="0"/>
            <a:chExt cx="12313577" cy="36838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13539" cy="3683762"/>
            </a:xfrm>
            <a:custGeom>
              <a:avLst/>
              <a:gdLst/>
              <a:ahLst/>
              <a:cxnLst/>
              <a:rect r="r" b="b" t="t" l="l"/>
              <a:pathLst>
                <a:path h="3683762" w="12313539">
                  <a:moveTo>
                    <a:pt x="0" y="0"/>
                  </a:moveTo>
                  <a:lnTo>
                    <a:pt x="12313539" y="0"/>
                  </a:lnTo>
                  <a:lnTo>
                    <a:pt x="12313539" y="3683762"/>
                  </a:lnTo>
                  <a:lnTo>
                    <a:pt x="0" y="3683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6" r="0" b="-6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25000" y="2795054"/>
            <a:ext cx="17837991" cy="1931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79"/>
              </a:lnSpc>
            </a:pPr>
            <a:r>
              <a:rPr lang="en-US" b="true" sz="10199" i="true">
                <a:gradFill>
                  <a:gsLst>
                    <a:gs pos="0">
                      <a:srgbClr val="E894FF">
                        <a:alpha val="100000"/>
                      </a:srgbClr>
                    </a:gs>
                    <a:gs pos="100000">
                      <a:srgbClr val="FF6A92">
                        <a:alpha val="100000"/>
                      </a:srgbClr>
                    </a:gs>
                  </a:gsLst>
                  <a:lin ang="0"/>
                </a:gra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DIGITAL LITERACY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64954" y="4857750"/>
            <a:ext cx="12624102" cy="143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8"/>
              </a:lnSpc>
            </a:pPr>
            <a:r>
              <a:rPr lang="en-US" b="true" sz="7598" i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AWARENESS INFOGRAPHY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355361"/>
            <a:ext cx="10087356" cy="8229600"/>
            <a:chOff x="0" y="0"/>
            <a:chExt cx="13449808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49808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3449808">
                  <a:moveTo>
                    <a:pt x="0" y="0"/>
                  </a:moveTo>
                  <a:lnTo>
                    <a:pt x="13449808" y="0"/>
                  </a:lnTo>
                  <a:lnTo>
                    <a:pt x="13449808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" t="0" r="-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08061" y="2355361"/>
            <a:ext cx="10087356" cy="8229600"/>
            <a:chOff x="0" y="0"/>
            <a:chExt cx="13449808" cy="1097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49808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3449808">
                  <a:moveTo>
                    <a:pt x="0" y="0"/>
                  </a:moveTo>
                  <a:lnTo>
                    <a:pt x="13449808" y="0"/>
                  </a:lnTo>
                  <a:lnTo>
                    <a:pt x="13449808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" t="0" r="-21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751729" y="575777"/>
            <a:ext cx="2198751" cy="2767308"/>
          </a:xfrm>
          <a:custGeom>
            <a:avLst/>
            <a:gdLst/>
            <a:ahLst/>
            <a:cxnLst/>
            <a:rect r="r" b="b" t="t" l="l"/>
            <a:pathLst>
              <a:path h="2767308" w="2198751">
                <a:moveTo>
                  <a:pt x="0" y="0"/>
                </a:moveTo>
                <a:lnTo>
                  <a:pt x="2198751" y="0"/>
                </a:lnTo>
                <a:lnTo>
                  <a:pt x="2198751" y="2767307"/>
                </a:lnTo>
                <a:lnTo>
                  <a:pt x="0" y="2767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70" t="0" r="-17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-165402"/>
            <a:ext cx="14797583" cy="8229600"/>
            <a:chOff x="0" y="0"/>
            <a:chExt cx="19730110" cy="1097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730086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730086">
                  <a:moveTo>
                    <a:pt x="0" y="0"/>
                  </a:moveTo>
                  <a:lnTo>
                    <a:pt x="19730086" y="0"/>
                  </a:lnTo>
                  <a:lnTo>
                    <a:pt x="19730086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1325" r="0" b="-21324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18115" y="3302537"/>
            <a:ext cx="17051769" cy="352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4"/>
              </a:lnSpc>
            </a:pPr>
            <a:r>
              <a:rPr lang="en-US" b="true" sz="3917" i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432C7">
                        <a:alpha val="100000"/>
                      </a:srgbClr>
                    </a:gs>
                  </a:gsLst>
                  <a:lin ang="16200000"/>
                </a:gra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Digital literacy is the ability to use digital devices and the internet effectively. </a:t>
            </a:r>
          </a:p>
          <a:p>
            <a:pPr algn="just">
              <a:lnSpc>
                <a:spcPts val="5484"/>
              </a:lnSpc>
            </a:pPr>
            <a:r>
              <a:rPr lang="en-US" b="true" sz="3917" i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432C7">
                        <a:alpha val="100000"/>
                      </a:srgbClr>
                    </a:gs>
                  </a:gsLst>
                  <a:lin ang="16200000"/>
                </a:gra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It includes finding and understanding information online.</a:t>
            </a:r>
          </a:p>
          <a:p>
            <a:pPr algn="l">
              <a:lnSpc>
                <a:spcPts val="5484"/>
              </a:lnSpc>
            </a:pPr>
            <a:r>
              <a:rPr lang="en-US" b="true" sz="3917" i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432C7">
                        <a:alpha val="100000"/>
                      </a:srgbClr>
                    </a:gs>
                  </a:gsLst>
                  <a:lin ang="16200000"/>
                </a:gra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It involves creating and sharing digital content.</a:t>
            </a:r>
          </a:p>
          <a:p>
            <a:pPr algn="l">
              <a:lnSpc>
                <a:spcPts val="5484"/>
              </a:lnSpc>
            </a:pPr>
            <a:r>
              <a:rPr lang="en-US" b="true" sz="3917" i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432C7">
                        <a:alpha val="100000"/>
                      </a:srgbClr>
                    </a:gs>
                  </a:gsLst>
                  <a:lin ang="16200000"/>
                </a:gra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 It also ensures safe and responsible use of technology.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8115" y="1711785"/>
            <a:ext cx="10986992" cy="121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5"/>
              </a:lnSpc>
            </a:pPr>
            <a:r>
              <a:rPr lang="en-US" b="true" sz="637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What is digital literacy?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8871" y="1109605"/>
            <a:ext cx="17949129" cy="757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8"/>
              </a:lnSpc>
            </a:pPr>
            <a:r>
              <a:rPr lang="en-US" b="true" sz="5098" i="tru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What are the Useful digital tools for students ?</a:t>
            </a:r>
          </a:p>
          <a:p>
            <a:pPr algn="ctr">
              <a:lnSpc>
                <a:spcPts val="5039"/>
              </a:lnSpc>
            </a:pPr>
          </a:p>
          <a:p>
            <a:pPr algn="l">
              <a:lnSpc>
                <a:spcPts val="5878"/>
              </a:lnSpc>
            </a:pPr>
            <a:r>
              <a:rPr lang="en-US" b="true" sz="4198" i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Learning platforms (like Google Classroom) to access notes, assignments, and classes.</a:t>
            </a:r>
          </a:p>
          <a:p>
            <a:pPr algn="l">
              <a:lnSpc>
                <a:spcPts val="5878"/>
              </a:lnSpc>
            </a:pPr>
            <a:r>
              <a:rPr lang="en-US" b="true" sz="4198" i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Note-taking apps (like Microsoft OneNote) to organize study materials.</a:t>
            </a:r>
          </a:p>
          <a:p>
            <a:pPr algn="l">
              <a:lnSpc>
                <a:spcPts val="5878"/>
              </a:lnSpc>
            </a:pPr>
            <a:r>
              <a:rPr lang="en-US" b="true" sz="4198" i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Search engines (like Google) to find information quickly.</a:t>
            </a:r>
          </a:p>
          <a:p>
            <a:pPr algn="l">
              <a:lnSpc>
                <a:spcPts val="5878"/>
              </a:lnSpc>
            </a:pPr>
            <a:r>
              <a:rPr lang="en-US" b="true" sz="4198" i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Communication tools (like Zoom) for online classes and discussions.</a:t>
            </a:r>
          </a:p>
          <a:p>
            <a:pPr algn="l">
              <a:lnSpc>
                <a:spcPts val="5878"/>
              </a:lnSpc>
            </a:pPr>
            <a:r>
              <a:rPr lang="en-US" b="true" sz="4198" i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Productivity tools (like Microsoft Word, PowerPoint) to create documents and presentations.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832111" y="-177498"/>
            <a:ext cx="3455889" cy="4824212"/>
            <a:chOff x="0" y="0"/>
            <a:chExt cx="4607852" cy="64322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07814" cy="6432296"/>
            </a:xfrm>
            <a:custGeom>
              <a:avLst/>
              <a:gdLst/>
              <a:ahLst/>
              <a:cxnLst/>
              <a:rect r="r" b="b" t="t" l="l"/>
              <a:pathLst>
                <a:path h="6432296" w="4607814">
                  <a:moveTo>
                    <a:pt x="0" y="0"/>
                  </a:moveTo>
                  <a:lnTo>
                    <a:pt x="4607814" y="0"/>
                  </a:lnTo>
                  <a:lnTo>
                    <a:pt x="4607814" y="6432296"/>
                  </a:lnTo>
                  <a:lnTo>
                    <a:pt x="0" y="6432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1" r="0" b="-6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8498596"/>
            <a:ext cx="4418076" cy="3576799"/>
            <a:chOff x="0" y="0"/>
            <a:chExt cx="5890768" cy="47690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90768" cy="4769104"/>
            </a:xfrm>
            <a:custGeom>
              <a:avLst/>
              <a:gdLst/>
              <a:ahLst/>
              <a:cxnLst/>
              <a:rect r="r" b="b" t="t" l="l"/>
              <a:pathLst>
                <a:path h="4769104" w="5890768">
                  <a:moveTo>
                    <a:pt x="0" y="0"/>
                  </a:moveTo>
                  <a:lnTo>
                    <a:pt x="5890768" y="0"/>
                  </a:lnTo>
                  <a:lnTo>
                    <a:pt x="5890768" y="4769104"/>
                  </a:lnTo>
                  <a:lnTo>
                    <a:pt x="0" y="4769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0" b="-1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418076" y="8498596"/>
            <a:ext cx="4418076" cy="3576799"/>
            <a:chOff x="0" y="0"/>
            <a:chExt cx="5890768" cy="47690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90768" cy="4769104"/>
            </a:xfrm>
            <a:custGeom>
              <a:avLst/>
              <a:gdLst/>
              <a:ahLst/>
              <a:cxnLst/>
              <a:rect r="r" b="b" t="t" l="l"/>
              <a:pathLst>
                <a:path h="4769104" w="5890768">
                  <a:moveTo>
                    <a:pt x="0" y="0"/>
                  </a:moveTo>
                  <a:lnTo>
                    <a:pt x="5890768" y="0"/>
                  </a:lnTo>
                  <a:lnTo>
                    <a:pt x="5890768" y="4769104"/>
                  </a:lnTo>
                  <a:lnTo>
                    <a:pt x="0" y="4769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0" b="-1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36162" y="8228333"/>
            <a:ext cx="4418076" cy="3576799"/>
            <a:chOff x="0" y="0"/>
            <a:chExt cx="5890768" cy="47690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90768" cy="4769104"/>
            </a:xfrm>
            <a:custGeom>
              <a:avLst/>
              <a:gdLst/>
              <a:ahLst/>
              <a:cxnLst/>
              <a:rect r="r" b="b" t="t" l="l"/>
              <a:pathLst>
                <a:path h="4769104" w="5890768">
                  <a:moveTo>
                    <a:pt x="0" y="0"/>
                  </a:moveTo>
                  <a:lnTo>
                    <a:pt x="5890768" y="0"/>
                  </a:lnTo>
                  <a:lnTo>
                    <a:pt x="5890768" y="4769104"/>
                  </a:lnTo>
                  <a:lnTo>
                    <a:pt x="0" y="4769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0" b="-1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254238" y="8228333"/>
            <a:ext cx="4418076" cy="3576799"/>
            <a:chOff x="0" y="0"/>
            <a:chExt cx="5890768" cy="47690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90768" cy="4769104"/>
            </a:xfrm>
            <a:custGeom>
              <a:avLst/>
              <a:gdLst/>
              <a:ahLst/>
              <a:cxnLst/>
              <a:rect r="r" b="b" t="t" l="l"/>
              <a:pathLst>
                <a:path h="4769104" w="5890768">
                  <a:moveTo>
                    <a:pt x="0" y="0"/>
                  </a:moveTo>
                  <a:lnTo>
                    <a:pt x="5890768" y="0"/>
                  </a:lnTo>
                  <a:lnTo>
                    <a:pt x="5890768" y="4769104"/>
                  </a:lnTo>
                  <a:lnTo>
                    <a:pt x="0" y="4769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0" b="-15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0" y="-512350"/>
            <a:ext cx="3012577" cy="2180006"/>
          </a:xfrm>
          <a:custGeom>
            <a:avLst/>
            <a:gdLst/>
            <a:ahLst/>
            <a:cxnLst/>
            <a:rect r="r" b="b" t="t" l="l"/>
            <a:pathLst>
              <a:path h="2180006" w="3012577">
                <a:moveTo>
                  <a:pt x="0" y="0"/>
                </a:moveTo>
                <a:lnTo>
                  <a:pt x="3012577" y="0"/>
                </a:lnTo>
                <a:lnTo>
                  <a:pt x="3012577" y="2180006"/>
                </a:lnTo>
                <a:lnTo>
                  <a:pt x="0" y="21800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5" t="0" r="-85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0455" y="2902744"/>
            <a:ext cx="17997545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sz="4498">
                <a:solidFill>
                  <a:srgbClr val="1800AD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Digital literacy and professional online presence mean using digital skills to create a positive and responsible image of yourself on the internet.</a:t>
            </a:r>
          </a:p>
          <a:p>
            <a:pPr algn="l">
              <a:lnSpc>
                <a:spcPts val="6298"/>
              </a:lnSpc>
            </a:pPr>
            <a:r>
              <a:rPr lang="en-US" sz="4498">
                <a:solidFill>
                  <a:srgbClr val="1800AD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It involves sharing appropriate content, maintaining good behavior online, and protecting your privacy.</a:t>
            </a:r>
          </a:p>
          <a:p>
            <a:pPr algn="l">
              <a:lnSpc>
                <a:spcPts val="6298"/>
              </a:lnSpc>
            </a:pPr>
            <a:r>
              <a:rPr lang="en-US" sz="4498">
                <a:solidFill>
                  <a:srgbClr val="1800AD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 professional online presence helps in education, networking, and future job opportunities.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45228" y="7935106"/>
            <a:ext cx="3248911" cy="2646388"/>
          </a:xfrm>
          <a:custGeom>
            <a:avLst/>
            <a:gdLst/>
            <a:ahLst/>
            <a:cxnLst/>
            <a:rect r="r" b="b" t="t" l="l"/>
            <a:pathLst>
              <a:path h="2646388" w="3248911">
                <a:moveTo>
                  <a:pt x="0" y="0"/>
                </a:moveTo>
                <a:lnTo>
                  <a:pt x="3248911" y="0"/>
                </a:lnTo>
                <a:lnTo>
                  <a:pt x="3248911" y="2646388"/>
                </a:lnTo>
                <a:lnTo>
                  <a:pt x="0" y="2646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3" t="0" r="-10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07675" y="7935106"/>
            <a:ext cx="3248911" cy="2646388"/>
          </a:xfrm>
          <a:custGeom>
            <a:avLst/>
            <a:gdLst/>
            <a:ahLst/>
            <a:cxnLst/>
            <a:rect r="r" b="b" t="t" l="l"/>
            <a:pathLst>
              <a:path h="2646388" w="3248911">
                <a:moveTo>
                  <a:pt x="0" y="0"/>
                </a:moveTo>
                <a:lnTo>
                  <a:pt x="3248911" y="0"/>
                </a:lnTo>
                <a:lnTo>
                  <a:pt x="3248911" y="2646388"/>
                </a:lnTo>
                <a:lnTo>
                  <a:pt x="0" y="2646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3" t="0" r="-103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95089" y="7684294"/>
            <a:ext cx="3248911" cy="2646388"/>
          </a:xfrm>
          <a:custGeom>
            <a:avLst/>
            <a:gdLst/>
            <a:ahLst/>
            <a:cxnLst/>
            <a:rect r="r" b="b" t="t" l="l"/>
            <a:pathLst>
              <a:path h="2646388" w="3248911">
                <a:moveTo>
                  <a:pt x="0" y="0"/>
                </a:moveTo>
                <a:lnTo>
                  <a:pt x="3248911" y="0"/>
                </a:lnTo>
                <a:lnTo>
                  <a:pt x="3248911" y="2646388"/>
                </a:lnTo>
                <a:lnTo>
                  <a:pt x="0" y="2646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3" t="0" r="-103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7640612"/>
            <a:ext cx="3248911" cy="2646388"/>
          </a:xfrm>
          <a:custGeom>
            <a:avLst/>
            <a:gdLst/>
            <a:ahLst/>
            <a:cxnLst/>
            <a:rect r="r" b="b" t="t" l="l"/>
            <a:pathLst>
              <a:path h="2646388" w="3248911">
                <a:moveTo>
                  <a:pt x="0" y="0"/>
                </a:moveTo>
                <a:lnTo>
                  <a:pt x="3248911" y="0"/>
                </a:lnTo>
                <a:lnTo>
                  <a:pt x="3248911" y="2646388"/>
                </a:lnTo>
                <a:lnTo>
                  <a:pt x="0" y="2646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3" t="0" r="-10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086187" y="7640612"/>
            <a:ext cx="3248911" cy="2646388"/>
          </a:xfrm>
          <a:custGeom>
            <a:avLst/>
            <a:gdLst/>
            <a:ahLst/>
            <a:cxnLst/>
            <a:rect r="r" b="b" t="t" l="l"/>
            <a:pathLst>
              <a:path h="2646388" w="3248911">
                <a:moveTo>
                  <a:pt x="0" y="0"/>
                </a:moveTo>
                <a:lnTo>
                  <a:pt x="3248911" y="0"/>
                </a:lnTo>
                <a:lnTo>
                  <a:pt x="3248911" y="2646388"/>
                </a:lnTo>
                <a:lnTo>
                  <a:pt x="0" y="2646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3" t="0" r="-103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13175" y="7640612"/>
            <a:ext cx="3248911" cy="2646388"/>
          </a:xfrm>
          <a:custGeom>
            <a:avLst/>
            <a:gdLst/>
            <a:ahLst/>
            <a:cxnLst/>
            <a:rect r="r" b="b" t="t" l="l"/>
            <a:pathLst>
              <a:path h="2646388" w="3248911">
                <a:moveTo>
                  <a:pt x="0" y="0"/>
                </a:moveTo>
                <a:lnTo>
                  <a:pt x="3248911" y="0"/>
                </a:lnTo>
                <a:lnTo>
                  <a:pt x="3248911" y="2646388"/>
                </a:lnTo>
                <a:lnTo>
                  <a:pt x="0" y="2646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3" t="0" r="-103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3887640">
            <a:off x="13775188" y="-1688135"/>
            <a:ext cx="3610223" cy="4669650"/>
            <a:chOff x="0" y="0"/>
            <a:chExt cx="4813630" cy="6226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3681" cy="6226175"/>
            </a:xfrm>
            <a:custGeom>
              <a:avLst/>
              <a:gdLst/>
              <a:ahLst/>
              <a:cxnLst/>
              <a:rect r="r" b="b" t="t" l="l"/>
              <a:pathLst>
                <a:path h="6226175" w="4813681">
                  <a:moveTo>
                    <a:pt x="0" y="0"/>
                  </a:moveTo>
                  <a:lnTo>
                    <a:pt x="4813681" y="0"/>
                  </a:lnTo>
                  <a:lnTo>
                    <a:pt x="4813681" y="6226175"/>
                  </a:lnTo>
                  <a:lnTo>
                    <a:pt x="0" y="6226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" r="1" b="-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-7559040">
            <a:off x="999563" y="-1483214"/>
            <a:ext cx="3610223" cy="4669650"/>
            <a:chOff x="0" y="0"/>
            <a:chExt cx="4813630" cy="6226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3681" cy="6226175"/>
            </a:xfrm>
            <a:custGeom>
              <a:avLst/>
              <a:gdLst/>
              <a:ahLst/>
              <a:cxnLst/>
              <a:rect r="r" b="b" t="t" l="l"/>
              <a:pathLst>
                <a:path h="6226175" w="4813681">
                  <a:moveTo>
                    <a:pt x="0" y="0"/>
                  </a:moveTo>
                  <a:lnTo>
                    <a:pt x="4813681" y="0"/>
                  </a:lnTo>
                  <a:lnTo>
                    <a:pt x="4813681" y="6226175"/>
                  </a:lnTo>
                  <a:lnTo>
                    <a:pt x="0" y="6226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" r="1" b="-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3561360">
            <a:off x="7298550" y="-1803664"/>
            <a:ext cx="3610223" cy="4669650"/>
            <a:chOff x="0" y="0"/>
            <a:chExt cx="4813630" cy="6226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13681" cy="6226175"/>
            </a:xfrm>
            <a:custGeom>
              <a:avLst/>
              <a:gdLst/>
              <a:ahLst/>
              <a:cxnLst/>
              <a:rect r="r" b="b" t="t" l="l"/>
              <a:pathLst>
                <a:path h="6226175" w="4813681">
                  <a:moveTo>
                    <a:pt x="0" y="0"/>
                  </a:moveTo>
                  <a:lnTo>
                    <a:pt x="4813681" y="0"/>
                  </a:lnTo>
                  <a:lnTo>
                    <a:pt x="4813681" y="6226175"/>
                  </a:lnTo>
                  <a:lnTo>
                    <a:pt x="0" y="6226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" r="1" b="-5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0" y="1606925"/>
            <a:ext cx="18207314" cy="102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>
                <a:gradFill>
                  <a:gsLst>
                    <a:gs pos="15000">
                      <a:srgbClr val="F95BF6">
                        <a:alpha val="100000"/>
                      </a:srgbClr>
                    </a:gs>
                    <a:gs pos="50000">
                      <a:srgbClr val="532CF9">
                        <a:alpha val="100000"/>
                      </a:srgbClr>
                    </a:gs>
                    <a:gs pos="85000">
                      <a:srgbClr val="03F7EB">
                        <a:alpha val="100000"/>
                      </a:srgbClr>
                    </a:gs>
                  </a:gsLst>
                  <a:lin ang="18900000"/>
                </a:gradFill>
                <a:latin typeface="Norwester"/>
                <a:ea typeface="Norwester"/>
                <a:cs typeface="Norwester"/>
                <a:sym typeface="Norwester"/>
              </a:rPr>
              <a:t>What is digital literacy’s professional online presence 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89220" y="3300730"/>
            <a:ext cx="16909558" cy="454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Digital literacy email etiquette means using proper manners and professionalism while communicating through email.</a:t>
            </a:r>
          </a:p>
          <a:p>
            <a:pPr algn="l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It includes writing clear subject lines, using polite language, and avoiding slang.</a:t>
            </a:r>
          </a:p>
          <a:p>
            <a:pPr algn="l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It also involves checking grammar, responding on time, and respecting others’ privacy.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2039" y="7527677"/>
            <a:ext cx="1462519" cy="2997321"/>
          </a:xfrm>
          <a:custGeom>
            <a:avLst/>
            <a:gdLst/>
            <a:ahLst/>
            <a:cxnLst/>
            <a:rect r="r" b="b" t="t" l="l"/>
            <a:pathLst>
              <a:path h="2997321" w="1462519">
                <a:moveTo>
                  <a:pt x="0" y="0"/>
                </a:moveTo>
                <a:lnTo>
                  <a:pt x="1462519" y="0"/>
                </a:lnTo>
                <a:lnTo>
                  <a:pt x="1462519" y="2997321"/>
                </a:lnTo>
                <a:lnTo>
                  <a:pt x="0" y="2997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25481" y="7527677"/>
            <a:ext cx="1462519" cy="2997321"/>
          </a:xfrm>
          <a:custGeom>
            <a:avLst/>
            <a:gdLst/>
            <a:ahLst/>
            <a:cxnLst/>
            <a:rect r="r" b="b" t="t" l="l"/>
            <a:pathLst>
              <a:path h="2997321" w="1462519">
                <a:moveTo>
                  <a:pt x="0" y="0"/>
                </a:moveTo>
                <a:lnTo>
                  <a:pt x="1462519" y="0"/>
                </a:lnTo>
                <a:lnTo>
                  <a:pt x="1462519" y="2997321"/>
                </a:lnTo>
                <a:lnTo>
                  <a:pt x="0" y="2997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294293" y="7849236"/>
            <a:ext cx="5001671" cy="2182547"/>
          </a:xfrm>
          <a:custGeom>
            <a:avLst/>
            <a:gdLst/>
            <a:ahLst/>
            <a:cxnLst/>
            <a:rect r="r" b="b" t="t" l="l"/>
            <a:pathLst>
              <a:path h="2182547" w="5001671">
                <a:moveTo>
                  <a:pt x="0" y="0"/>
                </a:moveTo>
                <a:lnTo>
                  <a:pt x="5001671" y="0"/>
                </a:lnTo>
                <a:lnTo>
                  <a:pt x="5001671" y="2182547"/>
                </a:lnTo>
                <a:lnTo>
                  <a:pt x="0" y="2182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028030" y="271061"/>
            <a:ext cx="4002434" cy="2841728"/>
          </a:xfrm>
          <a:custGeom>
            <a:avLst/>
            <a:gdLst/>
            <a:ahLst/>
            <a:cxnLst/>
            <a:rect r="r" b="b" t="t" l="l"/>
            <a:pathLst>
              <a:path h="2841728" w="4002434">
                <a:moveTo>
                  <a:pt x="0" y="0"/>
                </a:moveTo>
                <a:lnTo>
                  <a:pt x="4002434" y="0"/>
                </a:lnTo>
                <a:lnTo>
                  <a:pt x="4002434" y="2841729"/>
                </a:lnTo>
                <a:lnTo>
                  <a:pt x="0" y="28417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2039" y="907432"/>
            <a:ext cx="19095993" cy="9420827"/>
          </a:xfrm>
          <a:custGeom>
            <a:avLst/>
            <a:gdLst/>
            <a:ahLst/>
            <a:cxnLst/>
            <a:rect r="r" b="b" t="t" l="l"/>
            <a:pathLst>
              <a:path h="9420827" w="19095993">
                <a:moveTo>
                  <a:pt x="0" y="0"/>
                </a:moveTo>
                <a:lnTo>
                  <a:pt x="19095992" y="0"/>
                </a:lnTo>
                <a:lnTo>
                  <a:pt x="19095992" y="9420827"/>
                </a:lnTo>
                <a:lnTo>
                  <a:pt x="0" y="94208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8647" r="0" b="-9129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1180750"/>
            <a:ext cx="11038530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gradFill>
                  <a:gsLst>
                    <a:gs pos="15000">
                      <a:srgbClr val="F8AD00">
                        <a:alpha val="100000"/>
                      </a:srgbClr>
                    </a:gs>
                    <a:gs pos="50000">
                      <a:srgbClr val="E13333">
                        <a:alpha val="100000"/>
                      </a:srgbClr>
                    </a:gs>
                    <a:gs pos="85000">
                      <a:srgbClr val="3992FF">
                        <a:alpha val="100000"/>
                      </a:srgbClr>
                    </a:gs>
                  </a:gsLst>
                  <a:lin ang="189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What are the Digital Literacy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DAHFDlccaVo</dc:identifier>
  <dcterms:modified xsi:type="dcterms:W3CDTF">2011-08-01T06:04:30Z</dcterms:modified>
  <cp:revision>1</cp:revision>
  <dc:title>DIGITAL LITERACYt.pptx</dc:title>
</cp:coreProperties>
</file>